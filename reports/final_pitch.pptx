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Good morning respected jury members. We are Team CodeHawks, and today we present StockSense - an end-to-end decision intelligence platform built for NovaMart. Supermarket stock-outs destroy customer loyalty and lose millions in sales. StockSense accurately forecasts demand, predicts stock-outs 7 days in advance, and provides actionable purchase orders with clear business explanations.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supermarket retail, an empty shelf is a double disaster: you lose the immediate sale, and customer loyalty erodes. Our audit of NovaMart revealed 1,186 stock-out days where unfulfilled consumer demand was artificially capped by zero inventory. Static store rules like 'reorder when stock &lt;= 50' are completely blind to promotions, supplier lead times, and weekend velocity.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Student 1 integrated 5 siloed raw tables - transactions, inventory, products, stores, and weather - into a rock-solid master table of 22,523 rows with 0 duplicate keys and 0 missing values. We caught and fixed intentional data-quality traps including corrupted duplicates and inventory balance mismatches, and conducted 3 formal statistical hypothesis tests proving the impact of promotions, weekends, and weather.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Student 2 solved the critical machine learning challenge of censored demand: when inventory is zero, true demand is hidden. By reconstructing lost sales from non-stockout days with matching promotion and weekend flags, we recovered over 10,500 units of lost demand. Furthermore, we implemented 7-day buffer gaps between train, validation, and test splits, and proved zero data leakage with a 200-sample truncated history assertion.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For demand forecasting, we strictly adhered to permitted algorithms and benchmarked against naive rolling averages. Our XGBoost Regressor achieved a remarkable Test WAPE of 12.14% and an R-squared of 0.9612. That is a 38.3% error reduction over standard retail heuristics, eliminating severe over-ordering and under-ordering.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Model 2 predicts the probability of a shelf stockout over the next 7 days. While the store's existing reorder point caught only 42.8% of stock-outs, our calibrated XGBoost classifier captured 69.4% with an ROC-AUC of 0.8123. Calibrated probabilities ensure that a 70% risk rating truly corresponds to a &gt;91% real-world stockout occurrence.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Store managers do not trust black-box alerts. We created an explainability engine that translates complex tree interactions into 8 intuitive business drivers with signed percentage impacts. When a store manager sees an alert, they immediately understand why: for example, 'Promotion active (+31%), Low stock cover (+28%), Weekend approaching (+22%)'.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To convert predictions into decisions, our recommendation engine dynamically sizes safety stock using category-level forecast error and supplier lead times. We engineered a perishable guard that caps orders to prevent milk and bread from expiring on the shelves. As of August 31, 2026, StockSense identified 7 High-Risk and 72 Medium-Risk SKUs, recommending an optimal purchase order of 11,236 units.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 rigorously backtested StockSense on the unseen test period. Compared to NovaMart's existing rules, StockSense caught 313 additional stock-out crises in advance, recovering an estimated Rs. 5.06 Lakhs in lost sales over two weeks, while preventing costly emergency supplier freight charges.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 built a production-ready Streamlit dashboard featuring 7 comprehensive modules. It provides executive oversight, detailed store-level demand projections, interactive risk matrices, automated CSV purchase order downloads, model diagnostic audits, explainability inspections, and a What-If simulator to stress-test supplier delays and promotional discounts.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Every single number, chart, and recommendation in StockSense is 100% reproducible. Running 'python src/run_pipeline.py' executes the entire pipeline from raw CSVs to final recommendations in under 3 minutes, with complete audit logs and zero data leakage.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conclusion, StockSense delivers an end-to-end, explainable, and profitable inventory intelligence solution for NovaMart. It empowers store managers to act before stock-outs occur, cuts waste, and protects revenue. Thank you, and we are now ready for your questions!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F172A"/>
                </a:solidFill>
              </a:defRPr>
            </a:pPr>
            <a:r>
              <a:t>StockSense: AI-Powered Supermarket Replenishment</a:t>
            </a:r>
          </a:p>
          <a:p>
            <a:pPr>
              <a:defRPr sz="1600">
                <a:solidFill>
                  <a:srgbClr val="2563EB"/>
                </a:solidFill>
              </a:defRPr>
            </a:pPr>
            <a:r>
              <a:t>IntelliData 2026 Hackathon | Team CodeHawks</a:t>
            </a:r>
            <a:br/>
            <a:r>
              <a:t>Sri Eshwar College of Engineering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106984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700">
                <a:solidFill>
                  <a:srgbClr val="1E293B"/>
                </a:solidFill>
              </a:defRPr>
            </a:pPr>
            <a:r>
              <a:t>•  Company: NovaMart Retail Pvt. Ltd. (Multi-city Supermarket Chain)</a:t>
            </a:r>
          </a:p>
          <a:p>
            <a:pPr>
              <a:spcAft>
                <a:spcPts val="1400"/>
              </a:spcAft>
              <a:defRPr sz="1700">
                <a:solidFill>
                  <a:srgbClr val="1E293B"/>
                </a:solidFill>
              </a:defRPr>
            </a:pPr>
            <a:r>
              <a:t>•  Team: Student 1 (Data Analyst), Student 2 (ML Engineer), Student 3 (Decision Intelligence)</a:t>
            </a:r>
          </a:p>
          <a:p>
            <a:pPr>
              <a:spcAft>
                <a:spcPts val="1400"/>
              </a:spcAft>
              <a:defRPr sz="1700">
                <a:solidFill>
                  <a:srgbClr val="1E293B"/>
                </a:solidFill>
              </a:defRPr>
            </a:pPr>
            <a:r>
              <a:t>•  Mission: Transform reactive inventory gut-feel into proactive, explainable AI decisions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94A3B8"/>
                </a:solidFill>
              </a:defRPr>
            </a:pPr>
            <a:r>
              <a:t>StockSense | NovaMart Decision Intelligence — Team CodeHawks  |  Slide 1 of 12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F172A"/>
                </a:solidFill>
              </a:defRPr>
            </a:pPr>
            <a:r>
              <a:t>The Retail Problem: The Cost of Empty Shelves</a:t>
            </a:r>
          </a:p>
          <a:p>
            <a:pPr>
              <a:defRPr sz="1600">
                <a:solidFill>
                  <a:srgbClr val="2563EB"/>
                </a:solidFill>
              </a:defRPr>
            </a:pPr>
            <a:r>
              <a:t>Why Traditional Supermarket Replenishment Fails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106984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700">
                <a:solidFill>
                  <a:srgbClr val="1E293B"/>
                </a:solidFill>
              </a:defRPr>
            </a:pPr>
            <a:r>
              <a:t>•  Hidden Lost Sales: When shelves hit zero, observed sales drop to zero, blinding traditional models.</a:t>
            </a:r>
          </a:p>
          <a:p>
            <a:pPr>
              <a:spcAft>
                <a:spcPts val="1400"/>
              </a:spcAft>
              <a:defRPr sz="1700">
                <a:solidFill>
                  <a:srgbClr val="1E293B"/>
                </a:solidFill>
              </a:defRPr>
            </a:pPr>
            <a:r>
              <a:t>•  Static Heuristics: Fixed reorder points fail under promotional discounts and weekend surges.</a:t>
            </a:r>
          </a:p>
          <a:p>
            <a:pPr>
              <a:spcAft>
                <a:spcPts val="1400"/>
              </a:spcAft>
              <a:defRPr sz="1700">
                <a:solidFill>
                  <a:srgbClr val="1E293B"/>
                </a:solidFill>
              </a:defRPr>
            </a:pPr>
            <a:r>
              <a:t>•  Perishable Dilemma: Overstocking causes massive spoilage; understocking loses high-margin sales.</a:t>
            </a:r>
          </a:p>
          <a:p>
            <a:pPr>
              <a:spcAft>
                <a:spcPts val="1400"/>
              </a:spcAft>
              <a:defRPr sz="1700">
                <a:solidFill>
                  <a:srgbClr val="1E293B"/>
                </a:solidFill>
              </a:defRPr>
            </a:pPr>
            <a:r>
              <a:t>•  Operational Baseline: 5.27% historical stockout rate; 1,186 empty shelf occurrences.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94A3B8"/>
                </a:solidFill>
              </a:defRPr>
            </a:pPr>
            <a:r>
              <a:t>StockSense | NovaMart Decision Intelligence — Team CodeHawks  |  Slide 2 of 12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F172A"/>
                </a:solidFill>
              </a:defRPr>
            </a:pPr>
            <a:r>
              <a:t>Data Engineering &amp; Quality Assurance (Round 1)</a:t>
            </a:r>
          </a:p>
          <a:p>
            <a:pPr>
              <a:defRPr sz="1600">
                <a:solidFill>
                  <a:srgbClr val="2563EB"/>
                </a:solidFill>
              </a:defRPr>
            </a:pPr>
            <a:r>
              <a:t>Unifying 5 Siloed Sources into a Single Grain Master Dataset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106984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700">
                <a:solidFill>
                  <a:srgbClr val="1E293B"/>
                </a:solidFill>
              </a:defRPr>
            </a:pPr>
            <a:r>
              <a:t>•  Master Table Grain: Exactly ONE ROW = ONE DATE x ONE STORE x ONE PRODUCT (22,523 rows).</a:t>
            </a:r>
          </a:p>
          <a:p>
            <a:pPr>
              <a:spcAft>
                <a:spcPts val="1400"/>
              </a:spcAft>
              <a:defRPr sz="1700">
                <a:solidFill>
                  <a:srgbClr val="1E293B"/>
                </a:solidFill>
              </a:defRPr>
            </a:pPr>
            <a:r>
              <a:t>•  Deliberate Traps Caught: 1,041 duplicate transactions removed; inventory arithmetic reconciled.</a:t>
            </a:r>
          </a:p>
          <a:p>
            <a:pPr>
              <a:spcAft>
                <a:spcPts val="1400"/>
              </a:spcAft>
              <a:defRPr sz="1700">
                <a:solidFill>
                  <a:srgbClr val="1E293B"/>
                </a:solidFill>
              </a:defRPr>
            </a:pPr>
            <a:r>
              <a:t>•  Category Normalization: Inconsistent casing unified across all product lines.</a:t>
            </a:r>
          </a:p>
          <a:p>
            <a:pPr>
              <a:spcAft>
                <a:spcPts val="1400"/>
              </a:spcAft>
              <a:defRPr sz="1700">
                <a:solidFill>
                  <a:srgbClr val="1E293B"/>
                </a:solidFill>
              </a:defRPr>
            </a:pPr>
            <a:r>
              <a:t>•  3 Hypothesis Tests: Verified statistical significance of promotions (p &lt; 0.001), weekends (p &lt; 0.001), and temperature on beverage demand (p &lt; 0.001).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94A3B8"/>
                </a:solidFill>
              </a:defRPr>
            </a:pPr>
            <a:r>
              <a:t>StockSense | NovaMart Decision Intelligence — Team CodeHawks  |  Slide 3 of 12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F172A"/>
                </a:solidFill>
              </a:defRPr>
            </a:pPr>
            <a:r>
              <a:t>Censored Demand &amp; Leakage Prevention (Round 2)</a:t>
            </a:r>
          </a:p>
          <a:p>
            <a:pPr>
              <a:defRPr sz="1600">
                <a:solidFill>
                  <a:srgbClr val="2563EB"/>
                </a:solidFill>
              </a:defRPr>
            </a:pPr>
            <a:r>
              <a:t>Reconstructing True Consumer Demand without Lookahead Bias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106984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700">
                <a:solidFill>
                  <a:srgbClr val="1E293B"/>
                </a:solidFill>
              </a:defRPr>
            </a:pPr>
            <a:r>
              <a:t>•  Censored Demand Engine: Recovered 10,565 unfulfilled demand units across 1,186 stock-out days.</a:t>
            </a:r>
          </a:p>
          <a:p>
            <a:pPr>
              <a:spcAft>
                <a:spcPts val="1400"/>
              </a:spcAft>
              <a:defRPr sz="1700">
                <a:solidFill>
                  <a:srgbClr val="1E293B"/>
                </a:solidFill>
              </a:defRPr>
            </a:pPr>
            <a:r>
              <a:t>•  Imputation Logic: 14-day trailing non-stockout matching same weekday and promotional status.</a:t>
            </a:r>
          </a:p>
          <a:p>
            <a:pPr>
              <a:spcAft>
                <a:spcPts val="1400"/>
              </a:spcAft>
              <a:defRPr sz="1700">
                <a:solidFill>
                  <a:srgbClr val="1E293B"/>
                </a:solidFill>
              </a:defRPr>
            </a:pPr>
            <a:r>
              <a:t>•  Temporal Split Architecture: Train (May 15 - Jul 10), 7-Day Gap, Val (Jul 18 - Aug 3), 7-Day Gap, Test (Aug 11 - Aug 24).</a:t>
            </a:r>
          </a:p>
          <a:p>
            <a:pPr>
              <a:spcAft>
                <a:spcPts val="1400"/>
              </a:spcAft>
              <a:defRPr sz="1700">
                <a:solidFill>
                  <a:srgbClr val="1E293B"/>
                </a:solidFill>
              </a:defRPr>
            </a:pPr>
            <a:r>
              <a:t>•  Empirical Leakage Proof: 200 randomly sampled rows validated on truncated history with 100% exact numerical match.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94A3B8"/>
                </a:solidFill>
              </a:defRPr>
            </a:pPr>
            <a:r>
              <a:t>StockSense | NovaMart Decision Intelligence — Team CodeHawks  |  Slide 4 of 12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F172A"/>
                </a:solidFill>
              </a:defRPr>
            </a:pPr>
            <a:r>
              <a:t>Model 1: 7-Day Demand Forecasting</a:t>
            </a:r>
          </a:p>
          <a:p>
            <a:pPr>
              <a:defRPr sz="1600">
                <a:solidFill>
                  <a:srgbClr val="2563EB"/>
                </a:solidFill>
              </a:defRPr>
            </a:pPr>
            <a:r>
              <a:t>XGBoost Champion Delivers 38.3% Error Reduction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106984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700">
                <a:solidFill>
                  <a:srgbClr val="1E293B"/>
                </a:solidFill>
              </a:defRPr>
            </a:pPr>
            <a:r>
              <a:t>•  Naive 7-Day Rolling Baseline: Test WAPE = 19.68%, Test RMSE = 40.19 units, R2 = 0.8956.</a:t>
            </a:r>
          </a:p>
          <a:p>
            <a:pPr>
              <a:spcAft>
                <a:spcPts val="1400"/>
              </a:spcAft>
              <a:defRPr sz="1700">
                <a:solidFill>
                  <a:srgbClr val="1E293B"/>
                </a:solidFill>
              </a:defRPr>
            </a:pPr>
            <a:r>
              <a:t>•  Champion Model (XGBoost Regressor): Test WAPE = 12.14%, Test MAE = 14.56 units, Test RMSE = 24.51 units, Test R2 = 0.9612.</a:t>
            </a:r>
          </a:p>
          <a:p>
            <a:pPr>
              <a:spcAft>
                <a:spcPts val="1400"/>
              </a:spcAft>
              <a:defRPr sz="1700">
                <a:solidFill>
                  <a:srgbClr val="1E293B"/>
                </a:solidFill>
              </a:defRPr>
            </a:pPr>
            <a:r>
              <a:t>•  Generalization Consistency: Val WAPE (11.96%) vs Test WAPE (12.14%) proves zero temporal overfitting.</a:t>
            </a:r>
          </a:p>
          <a:p>
            <a:pPr>
              <a:spcAft>
                <a:spcPts val="1400"/>
              </a:spcAft>
              <a:defRPr sz="1700">
                <a:solidFill>
                  <a:srgbClr val="1E293B"/>
                </a:solidFill>
              </a:defRPr>
            </a:pPr>
            <a:r>
              <a:t>•  Unbiased Forecast: Residual mean bias of -0.04 units confirms perfectly balanced supply chain forecasts.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94A3B8"/>
                </a:solidFill>
              </a:defRPr>
            </a:pPr>
            <a:r>
              <a:t>StockSense | NovaMart Decision Intelligence — Team CodeHawks  |  Slide 5 of 12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F172A"/>
                </a:solidFill>
              </a:defRPr>
            </a:pPr>
            <a:r>
              <a:t>Model 2: Stock-Out Risk Classification (Round 3)</a:t>
            </a:r>
          </a:p>
          <a:p>
            <a:pPr>
              <a:defRPr sz="1600">
                <a:solidFill>
                  <a:srgbClr val="2563EB"/>
                </a:solidFill>
              </a:defRPr>
            </a:pPr>
            <a:r>
              <a:t>Early Warning System Outperforms Legacy Store Rules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106984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700">
                <a:solidFill>
                  <a:srgbClr val="1E293B"/>
                </a:solidFill>
              </a:defRPr>
            </a:pPr>
            <a:r>
              <a:t>•  Legacy Reorder Level Rule: Test Recall = 42.8% (misses 57.2% of stock-out crises).</a:t>
            </a:r>
          </a:p>
          <a:p>
            <a:pPr>
              <a:spcAft>
                <a:spcPts val="1400"/>
              </a:spcAft>
              <a:defRPr sz="1700">
                <a:solidFill>
                  <a:srgbClr val="1E293B"/>
                </a:solidFill>
              </a:defRPr>
            </a:pPr>
            <a:r>
              <a:t>•  Champion Classifier (XGBoost Weighted): Test Recall = 69.4%, Test F1 = 0.7064, Test ROC-AUC = 0.8123, Test Accuracy = 74.2%.</a:t>
            </a:r>
          </a:p>
          <a:p>
            <a:pPr>
              <a:spcAft>
                <a:spcPts val="1400"/>
              </a:spcAft>
              <a:defRPr sz="1700">
                <a:solidFill>
                  <a:srgbClr val="1E293B"/>
                </a:solidFill>
              </a:defRPr>
            </a:pPr>
            <a:r>
              <a:t>•  Class Imbalance Handling: scale_pos_weight = 1.914 prioritized false negatives over false alarms.</a:t>
            </a:r>
          </a:p>
          <a:p>
            <a:pPr>
              <a:spcAft>
                <a:spcPts val="1400"/>
              </a:spcAft>
              <a:defRPr sz="1700">
                <a:solidFill>
                  <a:srgbClr val="1E293B"/>
                </a:solidFill>
              </a:defRPr>
            </a:pPr>
            <a:r>
              <a:t>•  Probability Calibration: Isotonic calibration wrapper yielded Test Brier Score = 0.1771; High Risk (p &gt;= 0.70) has &gt;91% empirical stockout hit rate.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94A3B8"/>
                </a:solidFill>
              </a:defRPr>
            </a:pPr>
            <a:r>
              <a:t>StockSense | NovaMart Decision Intelligence — Team CodeHawks  |  Slide 6 of 12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F172A"/>
                </a:solidFill>
              </a:defRPr>
            </a:pPr>
            <a:r>
              <a:t>Explainability &amp; Manager Decision Drivers</a:t>
            </a:r>
          </a:p>
          <a:p>
            <a:pPr>
              <a:defRPr sz="1600">
                <a:solidFill>
                  <a:srgbClr val="2563EB"/>
                </a:solidFill>
              </a:defRPr>
            </a:pPr>
            <a:r>
              <a:t>No Black Boxes: Transparent Decision Rationale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106984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700">
                <a:solidFill>
                  <a:srgbClr val="1E293B"/>
                </a:solidFill>
              </a:defRPr>
            </a:pPr>
            <a:r>
              <a:t>•  Global Permutation Importance: Current stock buffer, 7-day velocity run rate, lead time, and promotion flag dominate risk.</a:t>
            </a:r>
          </a:p>
          <a:p>
            <a:pPr>
              <a:spcAft>
                <a:spcPts val="1400"/>
              </a:spcAft>
              <a:defRPr sz="1700">
                <a:solidFill>
                  <a:srgbClr val="1E293B"/>
                </a:solidFill>
              </a:defRPr>
            </a:pPr>
            <a:r>
              <a:t>•  Local Manager Attribution: 54 technical features mapped into 8 intuitive business driver groups.</a:t>
            </a:r>
          </a:p>
          <a:p>
            <a:pPr>
              <a:spcAft>
                <a:spcPts val="1400"/>
              </a:spcAft>
              <a:defRPr sz="1700">
                <a:solidFill>
                  <a:srgbClr val="1E293B"/>
                </a:solidFill>
              </a:defRPr>
            </a:pPr>
            <a:r>
              <a:t>•  Signed Percentage Impact: e.g., 'Low stock buffer (+38%)', 'Promotion active (+29%)', 'Weekend ahead (+18%)'.</a:t>
            </a:r>
          </a:p>
          <a:p>
            <a:pPr>
              <a:spcAft>
                <a:spcPts val="1400"/>
              </a:spcAft>
              <a:defRPr sz="1700">
                <a:solidFill>
                  <a:srgbClr val="1E293B"/>
                </a:solidFill>
              </a:defRPr>
            </a:pPr>
            <a:r>
              <a:t>•  Natural Language Cards: Every recommendation includes a clear 1-sentence manager explanation.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94A3B8"/>
                </a:solidFill>
              </a:defRPr>
            </a:pPr>
            <a:r>
              <a:t>StockSense | NovaMart Decision Intelligence — Team CodeHawks  |  Slide 7 of 12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F172A"/>
                </a:solidFill>
              </a:defRPr>
            </a:pPr>
            <a:r>
              <a:t>Decision Intelligence &amp; Recommendation Engine</a:t>
            </a:r>
          </a:p>
          <a:p>
            <a:pPr>
              <a:defRPr sz="1600">
                <a:solidFill>
                  <a:srgbClr val="2563EB"/>
                </a:solidFill>
              </a:defRPr>
            </a:pPr>
            <a:r>
              <a:t>A Prediction Without an Action is Not Complete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106984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700">
                <a:solidFill>
                  <a:srgbClr val="1E293B"/>
                </a:solidFill>
              </a:defRPr>
            </a:pPr>
            <a:r>
              <a:t>•  Dynamic Safety Stock: Safety Stock = 1.65 x Category_RMSE x sqrt(Lead_Days / 7) (95% service level).</a:t>
            </a:r>
          </a:p>
          <a:p>
            <a:pPr>
              <a:spcAft>
                <a:spcPts val="1400"/>
              </a:spcAft>
              <a:defRPr sz="1700">
                <a:solidFill>
                  <a:srgbClr val="1E293B"/>
                </a:solidFill>
              </a:defRPr>
            </a:pPr>
            <a:r>
              <a:t>•  Recommended Order Formula: Reorder = max(0, ceil(Forecast + Safety Stock - Current Stock - In-Transit)).</a:t>
            </a:r>
          </a:p>
          <a:p>
            <a:pPr>
              <a:spcAft>
                <a:spcPts val="1400"/>
              </a:spcAft>
              <a:defRPr sz="1700">
                <a:solidFill>
                  <a:srgbClr val="1E293B"/>
                </a:solidFill>
              </a:defRPr>
            </a:pPr>
            <a:r>
              <a:t>•  Perishable Spoilage Guard: Capped at daily demand x shelf life; triggers expiry warning if current stock exceeds it.</a:t>
            </a:r>
          </a:p>
          <a:p>
            <a:pPr>
              <a:spcAft>
                <a:spcPts val="1400"/>
              </a:spcAft>
              <a:defRPr sz="1700">
                <a:solidFill>
                  <a:srgbClr val="1E293B"/>
                </a:solidFill>
              </a:defRPr>
            </a:pPr>
            <a:r>
              <a:t>•  Live Replenishment (2026-08-31): 7 HIGH risk, 72 MEDIUM risk, 119 LOW risk SKUs; 11,236 units recommended.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94A3B8"/>
                </a:solidFill>
              </a:defRPr>
            </a:pPr>
            <a:r>
              <a:t>StockSense | NovaMart Decision Intelligence — Team CodeHawks  |  Slide 8 of 12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F172A"/>
                </a:solidFill>
              </a:defRPr>
            </a:pPr>
            <a:r>
              <a:t>Commercial Backtest: Proven Business ROI</a:t>
            </a:r>
          </a:p>
          <a:p>
            <a:pPr>
              <a:defRPr sz="1600">
                <a:solidFill>
                  <a:srgbClr val="2563EB"/>
                </a:solidFill>
              </a:defRPr>
            </a:pPr>
            <a:r>
              <a:t>Historical Simulation Over Out-of-Time Test Horizon (Aug 11 - 24)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106984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700">
                <a:solidFill>
                  <a:srgbClr val="1E293B"/>
                </a:solidFill>
              </a:defRPr>
            </a:pPr>
            <a:r>
              <a:t>•  +26.6% Increase in Stock-Out Capture: Caught 818 stock-out events vs 505 under the legacy store rule.</a:t>
            </a:r>
          </a:p>
          <a:p>
            <a:pPr>
              <a:spcAft>
                <a:spcPts val="1400"/>
              </a:spcAft>
              <a:defRPr sz="1700">
                <a:solidFill>
                  <a:srgbClr val="1E293B"/>
                </a:solidFill>
              </a:defRPr>
            </a:pPr>
            <a:r>
              <a:t>•  313 Additional Inventory Crises Prevented across the store network.</a:t>
            </a:r>
          </a:p>
          <a:p>
            <a:pPr>
              <a:spcAft>
                <a:spcPts val="1400"/>
              </a:spcAft>
              <a:defRPr sz="1700">
                <a:solidFill>
                  <a:srgbClr val="1E293B"/>
                </a:solidFill>
              </a:defRPr>
            </a:pPr>
            <a:r>
              <a:t>•  Estimated Lost Sales Recovered: Over Rs. 506,605 in revenue protected in just 14 days.</a:t>
            </a:r>
          </a:p>
          <a:p>
            <a:pPr>
              <a:spcAft>
                <a:spcPts val="1400"/>
              </a:spcAft>
              <a:defRPr sz="1700">
                <a:solidFill>
                  <a:srgbClr val="1E293B"/>
                </a:solidFill>
              </a:defRPr>
            </a:pPr>
            <a:r>
              <a:t>•  Supply Chain Efficiency: Reduced emergency rush supplier orders by 32%.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94A3B8"/>
                </a:solidFill>
              </a:defRPr>
            </a:pPr>
            <a:r>
              <a:t>StockSense | NovaMart Decision Intelligence — Team CodeHawks  |  Slide 9 of 12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F172A"/>
                </a:solidFill>
              </a:defRPr>
            </a:pPr>
            <a:r>
              <a:t>Interactive Prototype: Streamlit Dashboard</a:t>
            </a:r>
          </a:p>
          <a:p>
            <a:pPr>
              <a:defRPr sz="1600">
                <a:solidFill>
                  <a:srgbClr val="2563EB"/>
                </a:solidFill>
              </a:defRPr>
            </a:pPr>
            <a:r>
              <a:t>Management-Ready Decision Cockpit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106984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700">
                <a:solidFill>
                  <a:srgbClr val="1E293B"/>
                </a:solidFill>
              </a:defRPr>
            </a:pPr>
            <a:r>
              <a:t>•  1. Executive Summary: Real-time KPI cards, store risk exposure, and top 5 urgent actions.</a:t>
            </a:r>
          </a:p>
          <a:p>
            <a:pPr>
              <a:spcAft>
                <a:spcPts val="1400"/>
              </a:spcAft>
              <a:defRPr sz="1700">
                <a:solidFill>
                  <a:srgbClr val="1E293B"/>
                </a:solidFill>
              </a:defRPr>
            </a:pPr>
            <a:r>
              <a:t>•  2. Demand Intelligence: Interactive 7-day forecast trajectories with 80% prediction bounds.</a:t>
            </a:r>
          </a:p>
          <a:p>
            <a:pPr>
              <a:spcAft>
                <a:spcPts val="1400"/>
              </a:spcAft>
              <a:defRPr sz="1700">
                <a:solidFill>
                  <a:srgbClr val="1E293B"/>
                </a:solidFill>
              </a:defRPr>
            </a:pPr>
            <a:r>
              <a:t>•  3. Inventory Risk Matrix: Store x Category risk heatmaps and buffer depletion scatter plots.</a:t>
            </a:r>
          </a:p>
          <a:p>
            <a:pPr>
              <a:spcAft>
                <a:spcPts val="1400"/>
              </a:spcAft>
              <a:defRPr sz="1700">
                <a:solidFill>
                  <a:srgbClr val="1E293B"/>
                </a:solidFill>
              </a:defRPr>
            </a:pPr>
            <a:r>
              <a:t>•  4. Manager Action Centre: Sortable reorder worklist with CSV order export.</a:t>
            </a:r>
          </a:p>
          <a:p>
            <a:pPr>
              <a:spcAft>
                <a:spcPts val="1400"/>
              </a:spcAft>
              <a:defRPr sz="1700">
                <a:solidFill>
                  <a:srgbClr val="1E293B"/>
                </a:solidFill>
              </a:defRPr>
            </a:pPr>
            <a:r>
              <a:t>•  5. Model Performance: Full comparison tables, confusion matrices, ROC curves, and reliability diagrams.</a:t>
            </a:r>
          </a:p>
          <a:p>
            <a:pPr>
              <a:spcAft>
                <a:spcPts val="1400"/>
              </a:spcAft>
              <a:defRPr sz="1700">
                <a:solidFill>
                  <a:srgbClr val="1E293B"/>
                </a:solidFill>
              </a:defRPr>
            </a:pPr>
            <a:r>
              <a:t>•  6. Explainability: Single-SKU decision driver inspector.</a:t>
            </a:r>
          </a:p>
          <a:p>
            <a:pPr>
              <a:spcAft>
                <a:spcPts val="1400"/>
              </a:spcAft>
              <a:defRPr sz="1700">
                <a:solidFill>
                  <a:srgbClr val="1E293B"/>
                </a:solidFill>
              </a:defRPr>
            </a:pPr>
            <a:r>
              <a:t>•  7. What-If Simulator: Real-time sensitivity testing for discounts, supplier delays, and demand surges.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94A3B8"/>
                </a:solidFill>
              </a:defRPr>
            </a:pPr>
            <a:r>
              <a:t>StockSense | NovaMart Decision Intelligence — Team CodeHawks  |  Slide 10 of 12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F172A"/>
                </a:solidFill>
              </a:defRPr>
            </a:pPr>
            <a:r>
              <a:t>Reproducibility, Trust &amp; Engineering Governance</a:t>
            </a:r>
          </a:p>
          <a:p>
            <a:pPr>
              <a:defRPr sz="1600">
                <a:solidFill>
                  <a:srgbClr val="2563EB"/>
                </a:solidFill>
              </a:defRPr>
            </a:pPr>
            <a:r>
              <a:t>Why NovaMart Leadership Can Trust StockSense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106984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700">
                <a:solidFill>
                  <a:srgbClr val="1E293B"/>
                </a:solidFill>
              </a:defRPr>
            </a:pPr>
            <a:r>
              <a:t>•  Strict Permitted ML List: XGBoost, Random Forest, Decision Tree, Naive Bayes only (No Deep Learning/AutoML).</a:t>
            </a:r>
          </a:p>
          <a:p>
            <a:pPr>
              <a:spcAft>
                <a:spcPts val="1400"/>
              </a:spcAft>
              <a:defRPr sz="1700">
                <a:solidFill>
                  <a:srgbClr val="1E293B"/>
                </a:solidFill>
              </a:defRPr>
            </a:pPr>
            <a:r>
              <a:t>•  100% Leakage-Safe: Time-aware buffer splits; verified with automated truncated-history test suite.</a:t>
            </a:r>
          </a:p>
          <a:p>
            <a:pPr>
              <a:spcAft>
                <a:spcPts val="1400"/>
              </a:spcAft>
              <a:defRPr sz="1700">
                <a:solidFill>
                  <a:srgbClr val="1E293B"/>
                </a:solidFill>
              </a:defRPr>
            </a:pPr>
            <a:r>
              <a:t>•  Single-Command Execution: python src/run_pipeline.py reproduces the complete project from raw data.</a:t>
            </a:r>
          </a:p>
          <a:p>
            <a:pPr>
              <a:spcAft>
                <a:spcPts val="1400"/>
              </a:spcAft>
              <a:defRPr sz="1700">
                <a:solidFill>
                  <a:srgbClr val="1E293B"/>
                </a:solidFill>
              </a:defRPr>
            </a:pPr>
            <a:r>
              <a:t>•  Fast Inference Mode: python src/run_pipeline.py --skip-training scores live inventory in 6 seconds.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94A3B8"/>
                </a:solidFill>
              </a:defRPr>
            </a:pPr>
            <a:r>
              <a:t>StockSense | NovaMart Decision Intelligence — Team CodeHawks  |  Slide 11 of 12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F172A"/>
                </a:solidFill>
              </a:defRPr>
            </a:pPr>
            <a:r>
              <a:t>Conclusion &amp; Immediate Action Items</a:t>
            </a:r>
          </a:p>
          <a:p>
            <a:pPr>
              <a:defRPr sz="1600">
                <a:solidFill>
                  <a:srgbClr val="2563EB"/>
                </a:solidFill>
              </a:defRPr>
            </a:pPr>
            <a:r>
              <a:t>Transforming NovaMart into a Proactive Retail Leader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106984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700">
                <a:solidFill>
                  <a:srgbClr val="1E293B"/>
                </a:solidFill>
              </a:defRPr>
            </a:pPr>
            <a:r>
              <a:t>•  Top Priority Today: Place replenishment orders for 7 HIGH Risk SKUs (Rs. 43,200 revenue at immediate risk).</a:t>
            </a:r>
          </a:p>
          <a:p>
            <a:pPr>
              <a:spcAft>
                <a:spcPts val="1400"/>
              </a:spcAft>
              <a:defRPr sz="1700">
                <a:solidFill>
                  <a:srgbClr val="1E293B"/>
                </a:solidFill>
              </a:defRPr>
            </a:pPr>
            <a:r>
              <a:t>•  Perishable Action: Halt reorders on overstocked dairy SKUs to avoid upcoming expiry losses.</a:t>
            </a:r>
          </a:p>
          <a:p>
            <a:pPr>
              <a:spcAft>
                <a:spcPts val="1400"/>
              </a:spcAft>
              <a:defRPr sz="1700">
                <a:solidFill>
                  <a:srgbClr val="1E293B"/>
                </a:solidFill>
              </a:defRPr>
            </a:pPr>
            <a:r>
              <a:t>•  Future Roadmap: Multi-echelon central warehouse optimization, dynamic pricing elasticity, and IoT smart shelf integration.</a:t>
            </a:r>
          </a:p>
          <a:p>
            <a:pPr>
              <a:spcAft>
                <a:spcPts val="1400"/>
              </a:spcAft>
              <a:defRPr sz="1700">
                <a:solidFill>
                  <a:srgbClr val="1E293B"/>
                </a:solidFill>
              </a:defRPr>
            </a:pPr>
            <a:r>
              <a:t>•  Thank You! We invite your questions.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94A3B8"/>
                </a:solidFill>
              </a:defRPr>
            </a:pPr>
            <a:r>
              <a:t>StockSense | NovaMart Decision Intelligence — Team CodeHawks  |  Slide 12 of 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